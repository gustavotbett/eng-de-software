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0"/>
  </p:notesMasterIdLst>
  <p:sldIdLst>
    <p:sldId id="256" r:id="rId2"/>
    <p:sldId id="265" r:id="rId3"/>
    <p:sldId id="303" r:id="rId4"/>
    <p:sldId id="304" r:id="rId5"/>
    <p:sldId id="336" r:id="rId6"/>
    <p:sldId id="321" r:id="rId7"/>
    <p:sldId id="351" r:id="rId8"/>
    <p:sldId id="352" r:id="rId9"/>
    <p:sldId id="305" r:id="rId10"/>
    <p:sldId id="306" r:id="rId11"/>
    <p:sldId id="322" r:id="rId12"/>
    <p:sldId id="323" r:id="rId13"/>
    <p:sldId id="353" r:id="rId14"/>
    <p:sldId id="354" r:id="rId15"/>
    <p:sldId id="356" r:id="rId16"/>
    <p:sldId id="285" r:id="rId17"/>
    <p:sldId id="333" r:id="rId18"/>
    <p:sldId id="332" r:id="rId19"/>
    <p:sldId id="324" r:id="rId20"/>
    <p:sldId id="267" r:id="rId21"/>
    <p:sldId id="271" r:id="rId22"/>
    <p:sldId id="272" r:id="rId23"/>
    <p:sldId id="325" r:id="rId24"/>
    <p:sldId id="337" r:id="rId25"/>
    <p:sldId id="326" r:id="rId26"/>
    <p:sldId id="273" r:id="rId27"/>
    <p:sldId id="275" r:id="rId28"/>
    <p:sldId id="327" r:id="rId29"/>
    <p:sldId id="365" r:id="rId30"/>
    <p:sldId id="266" r:id="rId31"/>
    <p:sldId id="276" r:id="rId32"/>
    <p:sldId id="291" r:id="rId33"/>
    <p:sldId id="328" r:id="rId34"/>
    <p:sldId id="277" r:id="rId35"/>
    <p:sldId id="329" r:id="rId36"/>
    <p:sldId id="330" r:id="rId37"/>
    <p:sldId id="364" r:id="rId38"/>
    <p:sldId id="363" r:id="rId3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9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F6B3AD-9762-43A5-BBBA-D58E57D49B3A}" v="56" dt="2025-08-15T00:12:59.8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5521" autoAdjust="0"/>
  </p:normalViewPr>
  <p:slideViewPr>
    <p:cSldViewPr snapToGrid="0">
      <p:cViewPr varScale="1">
        <p:scale>
          <a:sx n="69" d="100"/>
          <a:sy n="69" d="100"/>
        </p:scale>
        <p:origin x="780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i Crotti" userId="d593c9d1-1b73-45ee-aae6-f23c49679525" providerId="ADAL" clId="{74F6B3AD-9762-43A5-BBBA-D58E57D49B3A}"/>
    <pc:docChg chg="undo custSel addSld delSld modSld">
      <pc:chgData name="Yuri Crotti" userId="d593c9d1-1b73-45ee-aae6-f23c49679525" providerId="ADAL" clId="{74F6B3AD-9762-43A5-BBBA-D58E57D49B3A}" dt="2025-08-15T00:20:29.729" v="487" actId="20577"/>
      <pc:docMkLst>
        <pc:docMk/>
      </pc:docMkLst>
      <pc:sldChg chg="modSp mod">
        <pc:chgData name="Yuri Crotti" userId="d593c9d1-1b73-45ee-aae6-f23c49679525" providerId="ADAL" clId="{74F6B3AD-9762-43A5-BBBA-D58E57D49B3A}" dt="2024-08-18T23:12:03.293" v="84" actId="20577"/>
        <pc:sldMkLst>
          <pc:docMk/>
          <pc:sldMk cId="1470876938" sldId="256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3349421363" sldId="266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1617928359" sldId="267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3195758368" sldId="271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969618448" sldId="272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3066642230" sldId="273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1076942135" sldId="275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1882906491" sldId="276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3604901545" sldId="277"/>
        </pc:sldMkLst>
      </pc:sldChg>
      <pc:sldChg chg="del">
        <pc:chgData name="Yuri Crotti" userId="d593c9d1-1b73-45ee-aae6-f23c49679525" providerId="ADAL" clId="{74F6B3AD-9762-43A5-BBBA-D58E57D49B3A}" dt="2024-08-18T23:10:48.765" v="3" actId="47"/>
        <pc:sldMkLst>
          <pc:docMk/>
          <pc:sldMk cId="1046313352" sldId="286"/>
        </pc:sldMkLst>
      </pc:sldChg>
      <pc:sldChg chg="del">
        <pc:chgData name="Yuri Crotti" userId="d593c9d1-1b73-45ee-aae6-f23c49679525" providerId="ADAL" clId="{74F6B3AD-9762-43A5-BBBA-D58E57D49B3A}" dt="2024-08-18T23:10:50.680" v="4" actId="47"/>
        <pc:sldMkLst>
          <pc:docMk/>
          <pc:sldMk cId="1628508156" sldId="287"/>
        </pc:sldMkLst>
      </pc:sldChg>
      <pc:sldChg chg="del">
        <pc:chgData name="Yuri Crotti" userId="d593c9d1-1b73-45ee-aae6-f23c49679525" providerId="ADAL" clId="{74F6B3AD-9762-43A5-BBBA-D58E57D49B3A}" dt="2024-08-18T23:10:53.650" v="5" actId="47"/>
        <pc:sldMkLst>
          <pc:docMk/>
          <pc:sldMk cId="937891263" sldId="288"/>
        </pc:sldMkLst>
      </pc:sldChg>
      <pc:sldChg chg="del">
        <pc:chgData name="Yuri Crotti" userId="d593c9d1-1b73-45ee-aae6-f23c49679525" providerId="ADAL" clId="{74F6B3AD-9762-43A5-BBBA-D58E57D49B3A}" dt="2024-08-18T23:10:57.041" v="7" actId="47"/>
        <pc:sldMkLst>
          <pc:docMk/>
          <pc:sldMk cId="3737776823" sldId="289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3102558021" sldId="291"/>
        </pc:sldMkLst>
      </pc:sldChg>
      <pc:sldChg chg="addSp modSp">
        <pc:chgData name="Yuri Crotti" userId="d593c9d1-1b73-45ee-aae6-f23c49679525" providerId="ADAL" clId="{74F6B3AD-9762-43A5-BBBA-D58E57D49B3A}" dt="2025-08-15T00:10:51.518" v="393" actId="1076"/>
        <pc:sldMkLst>
          <pc:docMk/>
          <pc:sldMk cId="2964580444" sldId="305"/>
        </pc:sldMkLst>
        <pc:picChg chg="add mod">
          <ac:chgData name="Yuri Crotti" userId="d593c9d1-1b73-45ee-aae6-f23c49679525" providerId="ADAL" clId="{74F6B3AD-9762-43A5-BBBA-D58E57D49B3A}" dt="2025-08-15T00:10:51.518" v="393" actId="1076"/>
          <ac:picMkLst>
            <pc:docMk/>
            <pc:sldMk cId="2964580444" sldId="305"/>
            <ac:picMk id="1026" creationId="{1D81F51F-FAEA-F531-1FF5-E357604350A8}"/>
          </ac:picMkLst>
        </pc:picChg>
      </pc:sldChg>
      <pc:sldChg chg="add del">
        <pc:chgData name="Yuri Crotti" userId="d593c9d1-1b73-45ee-aae6-f23c49679525" providerId="ADAL" clId="{74F6B3AD-9762-43A5-BBBA-D58E57D49B3A}" dt="2024-08-18T23:17:32.812" v="96" actId="47"/>
        <pc:sldMkLst>
          <pc:docMk/>
          <pc:sldMk cId="1287933634" sldId="308"/>
        </pc:sldMkLst>
      </pc:sldChg>
      <pc:sldChg chg="del">
        <pc:chgData name="Yuri Crotti" userId="d593c9d1-1b73-45ee-aae6-f23c49679525" providerId="ADAL" clId="{74F6B3AD-9762-43A5-BBBA-D58E57D49B3A}" dt="2024-08-18T23:10:54.837" v="6" actId="47"/>
        <pc:sldMkLst>
          <pc:docMk/>
          <pc:sldMk cId="3173712294" sldId="319"/>
        </pc:sldMkLst>
      </pc:sldChg>
      <pc:sldChg chg="addSp delSp modSp add mod">
        <pc:chgData name="Yuri Crotti" userId="d593c9d1-1b73-45ee-aae6-f23c49679525" providerId="ADAL" clId="{74F6B3AD-9762-43A5-BBBA-D58E57D49B3A}" dt="2024-08-18T23:26:16.728" v="274" actId="732"/>
        <pc:sldMkLst>
          <pc:docMk/>
          <pc:sldMk cId="3521992622" sldId="324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2198028920" sldId="325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633844229" sldId="326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3976698644" sldId="327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3433318804" sldId="328"/>
        </pc:sldMkLst>
      </pc:sldChg>
      <pc:sldChg chg="addSp delSp add mod">
        <pc:chgData name="Yuri Crotti" userId="d593c9d1-1b73-45ee-aae6-f23c49679525" providerId="ADAL" clId="{74F6B3AD-9762-43A5-BBBA-D58E57D49B3A}" dt="2025-08-14T21:55:57.127" v="386" actId="478"/>
        <pc:sldMkLst>
          <pc:docMk/>
          <pc:sldMk cId="1824941985" sldId="329"/>
        </pc:sldMkLst>
        <pc:inkChg chg="add del">
          <ac:chgData name="Yuri Crotti" userId="d593c9d1-1b73-45ee-aae6-f23c49679525" providerId="ADAL" clId="{74F6B3AD-9762-43A5-BBBA-D58E57D49B3A}" dt="2025-08-14T21:55:57.127" v="386" actId="478"/>
          <ac:inkMkLst>
            <pc:docMk/>
            <pc:sldMk cId="1824941985" sldId="329"/>
            <ac:inkMk id="4" creationId="{467D1850-E2FD-533C-12F7-4A5D10D43EFC}"/>
          </ac:inkMkLst>
        </pc:inkChg>
      </pc:sldChg>
      <pc:sldChg chg="addSp delSp modSp add mod">
        <pc:chgData name="Yuri Crotti" userId="d593c9d1-1b73-45ee-aae6-f23c49679525" providerId="ADAL" clId="{74F6B3AD-9762-43A5-BBBA-D58E57D49B3A}" dt="2025-08-14T21:56:05.593" v="389" actId="478"/>
        <pc:sldMkLst>
          <pc:docMk/>
          <pc:sldMk cId="1238840804" sldId="330"/>
        </pc:sldMkLst>
        <pc:picChg chg="mod">
          <ac:chgData name="Yuri Crotti" userId="d593c9d1-1b73-45ee-aae6-f23c49679525" providerId="ADAL" clId="{74F6B3AD-9762-43A5-BBBA-D58E57D49B3A}" dt="2025-08-14T21:56:04.233" v="388" actId="1076"/>
          <ac:picMkLst>
            <pc:docMk/>
            <pc:sldMk cId="1238840804" sldId="330"/>
            <ac:picMk id="8" creationId="{E430B8AE-9082-408C-B787-94DD9C47E9F4}"/>
          </ac:picMkLst>
        </pc:picChg>
        <pc:inkChg chg="del">
          <ac:chgData name="Yuri Crotti" userId="d593c9d1-1b73-45ee-aae6-f23c49679525" providerId="ADAL" clId="{74F6B3AD-9762-43A5-BBBA-D58E57D49B3A}" dt="2025-08-14T21:56:05.593" v="389" actId="478"/>
          <ac:inkMkLst>
            <pc:docMk/>
            <pc:sldMk cId="1238840804" sldId="330"/>
            <ac:inkMk id="4" creationId="{9540934B-BE85-B72C-10C9-37FABE2B95C0}"/>
          </ac:inkMkLst>
        </pc:inkChg>
      </pc:sldChg>
      <pc:sldChg chg="del">
        <pc:chgData name="Yuri Crotti" userId="d593c9d1-1b73-45ee-aae6-f23c49679525" providerId="ADAL" clId="{74F6B3AD-9762-43A5-BBBA-D58E57D49B3A}" dt="2024-08-18T23:10:45.916" v="2" actId="47"/>
        <pc:sldMkLst>
          <pc:docMk/>
          <pc:sldMk cId="1276933352" sldId="334"/>
        </pc:sldMkLst>
      </pc:sldChg>
      <pc:sldChg chg="del">
        <pc:chgData name="Yuri Crotti" userId="d593c9d1-1b73-45ee-aae6-f23c49679525" providerId="ADAL" clId="{74F6B3AD-9762-43A5-BBBA-D58E57D49B3A}" dt="2024-08-18T23:10:45.065" v="1" actId="47"/>
        <pc:sldMkLst>
          <pc:docMk/>
          <pc:sldMk cId="2587107172" sldId="335"/>
        </pc:sldMkLst>
      </pc:sldChg>
      <pc:sldChg chg="add">
        <pc:chgData name="Yuri Crotti" userId="d593c9d1-1b73-45ee-aae6-f23c49679525" providerId="ADAL" clId="{74F6B3AD-9762-43A5-BBBA-D58E57D49B3A}" dt="2024-08-18T23:13:51.356" v="85"/>
        <pc:sldMkLst>
          <pc:docMk/>
          <pc:sldMk cId="1922930973" sldId="337"/>
        </pc:sldMkLst>
      </pc:sldChg>
      <pc:sldChg chg="del">
        <pc:chgData name="Yuri Crotti" userId="d593c9d1-1b73-45ee-aae6-f23c49679525" providerId="ADAL" clId="{74F6B3AD-9762-43A5-BBBA-D58E57D49B3A}" dt="2024-08-18T23:10:43.923" v="0" actId="47"/>
        <pc:sldMkLst>
          <pc:docMk/>
          <pc:sldMk cId="2453924379" sldId="362"/>
        </pc:sldMkLst>
      </pc:sldChg>
      <pc:sldChg chg="modSp mod">
        <pc:chgData name="Yuri Crotti" userId="d593c9d1-1b73-45ee-aae6-f23c49679525" providerId="ADAL" clId="{74F6B3AD-9762-43A5-BBBA-D58E57D49B3A}" dt="2024-08-18T23:21:19.668" v="267"/>
        <pc:sldMkLst>
          <pc:docMk/>
          <pc:sldMk cId="810809307" sldId="363"/>
        </pc:sldMkLst>
      </pc:sldChg>
      <pc:sldChg chg="addSp delSp modSp add mod">
        <pc:chgData name="Yuri Crotti" userId="d593c9d1-1b73-45ee-aae6-f23c49679525" providerId="ADAL" clId="{74F6B3AD-9762-43A5-BBBA-D58E57D49B3A}" dt="2025-08-15T00:15:19.893" v="478" actId="20577"/>
        <pc:sldMkLst>
          <pc:docMk/>
          <pc:sldMk cId="1105140437" sldId="364"/>
        </pc:sldMkLst>
        <pc:spChg chg="mod">
          <ac:chgData name="Yuri Crotti" userId="d593c9d1-1b73-45ee-aae6-f23c49679525" providerId="ADAL" clId="{74F6B3AD-9762-43A5-BBBA-D58E57D49B3A}" dt="2025-08-15T00:15:19.893" v="478" actId="20577"/>
          <ac:spMkLst>
            <pc:docMk/>
            <pc:sldMk cId="1105140437" sldId="364"/>
            <ac:spMk id="4" creationId="{853E089A-E91A-12CF-E293-98F60ACE77DE}"/>
          </ac:spMkLst>
        </pc:spChg>
        <pc:inkChg chg="add del">
          <ac:chgData name="Yuri Crotti" userId="d593c9d1-1b73-45ee-aae6-f23c49679525" providerId="ADAL" clId="{74F6B3AD-9762-43A5-BBBA-D58E57D49B3A}" dt="2025-08-14T21:55:52.995" v="385" actId="478"/>
          <ac:inkMkLst>
            <pc:docMk/>
            <pc:sldMk cId="1105140437" sldId="364"/>
            <ac:inkMk id="5" creationId="{DF1B012C-CDCD-7C9C-1E5C-58246EA03AEC}"/>
          </ac:inkMkLst>
        </pc:inkChg>
      </pc:sldChg>
      <pc:sldChg chg="addSp delSp modSp add mod">
        <pc:chgData name="Yuri Crotti" userId="d593c9d1-1b73-45ee-aae6-f23c49679525" providerId="ADAL" clId="{74F6B3AD-9762-43A5-BBBA-D58E57D49B3A}" dt="2025-08-15T00:20:29.729" v="487" actId="20577"/>
        <pc:sldMkLst>
          <pc:docMk/>
          <pc:sldMk cId="2188385796" sldId="365"/>
        </pc:sldMkLst>
        <pc:spChg chg="mod">
          <ac:chgData name="Yuri Crotti" userId="d593c9d1-1b73-45ee-aae6-f23c49679525" providerId="ADAL" clId="{74F6B3AD-9762-43A5-BBBA-D58E57D49B3A}" dt="2025-08-15T00:12:59.875" v="421" actId="20577"/>
          <ac:spMkLst>
            <pc:docMk/>
            <pc:sldMk cId="2188385796" sldId="365"/>
            <ac:spMk id="6" creationId="{8C7E8F68-743A-30EA-78BB-7674A851B235}"/>
          </ac:spMkLst>
        </pc:spChg>
        <pc:spChg chg="add mod">
          <ac:chgData name="Yuri Crotti" userId="d593c9d1-1b73-45ee-aae6-f23c49679525" providerId="ADAL" clId="{74F6B3AD-9762-43A5-BBBA-D58E57D49B3A}" dt="2025-08-15T00:20:11.080" v="483" actId="1076"/>
          <ac:spMkLst>
            <pc:docMk/>
            <pc:sldMk cId="2188385796" sldId="365"/>
            <ac:spMk id="8" creationId="{DA418DBA-B2A8-6D66-903D-C17A3EE35D8E}"/>
          </ac:spMkLst>
        </pc:spChg>
        <pc:spChg chg="add mod">
          <ac:chgData name="Yuri Crotti" userId="d593c9d1-1b73-45ee-aae6-f23c49679525" providerId="ADAL" clId="{74F6B3AD-9762-43A5-BBBA-D58E57D49B3A}" dt="2025-08-15T00:20:29.729" v="487" actId="20577"/>
          <ac:spMkLst>
            <pc:docMk/>
            <pc:sldMk cId="2188385796" sldId="365"/>
            <ac:spMk id="10" creationId="{3339A4C2-F10D-6A35-5109-7F1133282F20}"/>
          </ac:spMkLst>
        </pc:spChg>
        <pc:picChg chg="del">
          <ac:chgData name="Yuri Crotti" userId="d593c9d1-1b73-45ee-aae6-f23c49679525" providerId="ADAL" clId="{74F6B3AD-9762-43A5-BBBA-D58E57D49B3A}" dt="2025-08-15T00:13:02.043" v="422" actId="478"/>
          <ac:picMkLst>
            <pc:docMk/>
            <pc:sldMk cId="2188385796" sldId="365"/>
            <ac:picMk id="5" creationId="{B534DBB6-1565-4719-934D-1D5A2A6FED37}"/>
          </ac:picMkLst>
        </pc:picChg>
      </pc:sldChg>
      <pc:sldChg chg="delSp modSp add del mod delAnim modAnim">
        <pc:chgData name="Yuri Crotti" userId="d593c9d1-1b73-45ee-aae6-f23c49679525" providerId="ADAL" clId="{74F6B3AD-9762-43A5-BBBA-D58E57D49B3A}" dt="2024-08-18T23:36:14.396" v="285" actId="47"/>
        <pc:sldMkLst>
          <pc:docMk/>
          <pc:sldMk cId="2435828083" sldId="365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17:12:3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8468,'0'0'656,"0"0"-304,0 0-272,0 0-80,0 0 337,0 0 751,0 0-336,-43 0-47,43 6-545,-10 0-96,0 6 160,-10 0-192,13 0 16,7-9-48,0-3-512,0 0-3890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2-19T17:12:37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0 8468,'0'0'656,"0"0"-304,0 0-272,0 0-80,0 0 337,0 0 751,0 0-336,-43 0-47,43 6-545,-10 0-96,0 6 160,-10 0-192,13 0 16,7-9-48,0-3-512,0 0-3890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E8D53-2432-4DDB-A099-3E72A3296649}" type="datetimeFigureOut">
              <a:rPr lang="pt-BR" smtClean="0"/>
              <a:t>14/08/2025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99B70-AA64-44CA-81E6-C1A88999232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820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3536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7796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230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1774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2790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8081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6497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0644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559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2307C-F9DB-2C56-6F3E-9A3E40006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A0881F1-B441-57F6-5C0E-90BC20218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86979B1-7164-3C5D-6C43-FC5F49E7C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8053C02-2091-1016-446C-DFF106C44A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5380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60879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Uma desvantagem da codificação </a:t>
            </a:r>
            <a:r>
              <a:rPr lang="pt-BR" dirty="0" err="1"/>
              <a:t>one</a:t>
            </a:r>
            <a:r>
              <a:rPr lang="pt-BR" dirty="0"/>
              <a:t>-hot é que ela pode potencialmente gerar um número muito grande de colunas.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56138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7034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6521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D99B70-AA64-44CA-81E6-C1A88999232F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517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88EE9-35D9-44E0-934B-3B4AF87F1A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E8BF95-7DB2-437B-8677-A2C48CE67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06F4C54-7F24-4815-B375-FCFB4621E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1C66C-0622-4057-9A8F-41ABA6A00B0C}" type="datetime1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0A53F2-4991-4CFB-A5B0-BDD47575E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5F577B-0B2F-425F-9538-09BAFD37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49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130A3B-2335-431B-A4F7-7B8BD9E5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80D06D-97B9-4B75-851D-17389329A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915DB4-4809-4B8E-897E-549BEC58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FC009-E659-4C5E-A085-389C3F5E6976}" type="datetime1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154262-8C63-4521-8A2C-678716B3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AE63663-9A1C-4989-96D6-7DFB5AE5A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303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D9DC2-B265-48A8-AA25-5BBB2513C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C02AB0-B703-496D-9C90-FBAE9F2E4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745AC8-9C89-4673-846E-76A81A783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1F52E-E385-45D6-9C9C-478A43B9B1F5}" type="datetime1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C252D0-390D-48BE-AAB6-66C2AB843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4C295C5-22E7-4A9B-98BC-E26CB4651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1377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44A3CD-5C38-4029-AF67-261D547FF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ABD9C0-5A79-482B-948E-8FF6C0F44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9C8404-21BE-406F-9053-B978A48D0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73A459-E728-451B-8A95-0C64F84A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D1D87-8F45-48CC-ADFA-762C0DD5109C}" type="datetime1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6C32BC-B901-465B-B28B-09E582CF7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7EEBFCE-B30C-43BA-82E6-0DF258E09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9094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3D7D3-7F09-49A5-8A57-9689EFD55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4FCEF6-A69A-4EA2-AF2C-A4BE7F75F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34B67CD-358D-42FC-9893-9332848518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9B8A791-FACA-4289-8FFE-D89E34054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1A29A48-6090-4C40-853B-C62E4679B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F660D0-9B73-4FB0-B826-55E83E2B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DDE3D-F89F-4DA6-AC8C-6B667814E987}" type="datetime1">
              <a:rPr lang="pt-BR" smtClean="0"/>
              <a:t>14/08/2025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AB1CA2-5169-4399-99F4-F3D50FE76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1A7A87C-7D0D-421B-9300-22774AE8F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272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C8D08-1B39-4585-BFAC-725D77D0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EC3431-BDC3-4753-A507-C3C4FB152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6EF6-53E0-4F04-B7D7-10D4755DAFEA}" type="datetime1">
              <a:rPr lang="pt-BR" smtClean="0"/>
              <a:t>14/08/2025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2AFBF5-FC87-41AD-9BE5-F901329A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17E06CC-B1E4-4382-90DC-7742D170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493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25DD363-144D-41CE-94CF-E2459E51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0A54A-877B-448B-8F34-9B83D1A0E4C0}" type="datetime1">
              <a:rPr lang="pt-BR" smtClean="0"/>
              <a:t>14/08/2025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2E2A2A1-C7C1-457E-97D0-F2C44053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4C7CEA-1299-483A-8AAB-2989DF0D5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88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0F7D5-3A15-4932-9223-0F08DB7FA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BBE542F-1125-4657-B31C-73427FC4A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886511-D02B-43BB-A182-600621BF3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ED9DDE-A5F5-4B4F-8C1B-7A9EEE0C1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51FE5-6824-40F4-AA5C-1E93DC678B4C}" type="datetime1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ACA570-D4CB-4141-9BEF-8279C9043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4BD7F5-14B3-40E7-93B0-E5A5E2C05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8509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C7D25-B680-42D6-9232-415FDA60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C176EF1-DD74-4B3D-A094-5FACD19CA8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DA0AEB4-BD24-4F27-883F-F3B7FEA46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A3D6E0-56D0-4591-B9CE-CB7F25621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DB790C-5A5D-48BE-9835-6F495E8F8169}" type="datetime1">
              <a:rPr lang="pt-BR" smtClean="0"/>
              <a:t>14/08/2025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85481D-E102-496F-86BB-95D7F6F42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AB937E-306E-4B5E-B150-F04718071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8852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46546-F711-4E8A-A332-C877EDFB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54CBB98-24D0-458E-A9AA-096A4F69D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9AF7F5-694A-4C82-A9A4-CE673690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B63F-CCA2-4A0C-A322-23A5B91B22F1}" type="datetime1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159477-D0AB-4157-B421-6E177310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52FA18-8268-4A18-8873-D1F855DF0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457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C886681-ABED-4846-B98E-CE18D4B53D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E1A0CC1-3933-4097-98AC-8566C4D172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993FB3-D199-408E-AF9A-66F2798CF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C1F73-F02C-49A2-8376-2FC6168462DE}" type="datetime1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03D492-3731-4F74-8424-A042A518E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8807F5-8F66-49C8-AF20-57EF8873E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9920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B6AE854-0973-4056-B7D8-AF348DF3E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5C39FB-1079-4E34-881D-DDF20003C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E36169-01FC-483E-B62A-5C134F3DF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0D1542-75A7-4A64-8D19-5B158B383712}" type="datetime1">
              <a:rPr lang="pt-BR" smtClean="0"/>
              <a:t>14/08/2025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9B608C-064A-405D-9AAE-C7A2B4183F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D129A6-A980-4CBF-A865-5A62B2F57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D8FC8-E31D-4F23-A3B0-3DC82BD55F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9214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st.github.com/mwaskom/8224591" TargetMode="External"/><Relationship Id="rId5" Type="http://schemas.openxmlformats.org/officeDocument/2006/relationships/hyperlink" Target="https://www.kaggle.com/code/fourbic/visualizing-the-titanic-data-with-seaborn" TargetMode="External"/><Relationship Id="rId4" Type="http://schemas.openxmlformats.org/officeDocument/2006/relationships/image" Target="../media/image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5" Type="http://schemas.openxmlformats.org/officeDocument/2006/relationships/image" Target="../media/image2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14:cNvPr>
              <p14:cNvContentPartPr/>
              <p14:nvPr/>
            </p14:nvContentPartPr>
            <p14:xfrm>
              <a:off x="4503141" y="3110426"/>
              <a:ext cx="32400" cy="18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4141" y="3101426"/>
                <a:ext cx="50040" cy="36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8DBC2051-7AF2-4D6F-9135-589CE4137C5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40B3ACD-FF88-40B0-8AD9-B0BC4EB9F4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2896F3CE-DE9A-4F5A-AE63-9DBB2CFDE036}"/>
              </a:ext>
            </a:extLst>
          </p:cNvPr>
          <p:cNvSpPr txBox="1"/>
          <p:nvPr/>
        </p:nvSpPr>
        <p:spPr>
          <a:xfrm>
            <a:off x="6518366" y="2644170"/>
            <a:ext cx="5557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003958"/>
                </a:solidFill>
                <a:latin typeface="Impact" panose="020B0806030902050204" pitchFamily="34" charset="0"/>
              </a:rPr>
              <a:t>Aula 3 – Pré-processamento de dados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F505634-22BF-4832-B2EF-A87CBD713B85}"/>
              </a:ext>
            </a:extLst>
          </p:cNvPr>
          <p:cNvSpPr txBox="1"/>
          <p:nvPr/>
        </p:nvSpPr>
        <p:spPr>
          <a:xfrm>
            <a:off x="5336999" y="4781574"/>
            <a:ext cx="6738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Yuri Crotti</a:t>
            </a:r>
          </a:p>
        </p:txBody>
      </p:sp>
    </p:spTree>
    <p:extLst>
      <p:ext uri="{BB962C8B-B14F-4D97-AF65-F5344CB8AC3E}">
        <p14:creationId xmlns:p14="http://schemas.microsoft.com/office/powerpoint/2010/main" val="147087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Tipos comuns de dados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962135" y="1688219"/>
            <a:ext cx="109369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Dados Tabulares: </a:t>
            </a:r>
            <a:r>
              <a:rPr lang="pt-BR" sz="2400" dirty="0"/>
              <a:t>No aprendizado de máquina, o tipo mais comum de dados que você encontrará são </a:t>
            </a:r>
            <a:r>
              <a:rPr lang="pt-BR" sz="2400" dirty="0">
                <a:solidFill>
                  <a:srgbClr val="FF0000"/>
                </a:solidFill>
              </a:rPr>
              <a:t>dados tabulares </a:t>
            </a:r>
            <a:r>
              <a:rPr lang="pt-BR" sz="2400" dirty="0"/>
              <a:t>- ou seja, dados organizados em uma </a:t>
            </a:r>
            <a:r>
              <a:rPr lang="pt-BR" sz="2400" dirty="0">
                <a:solidFill>
                  <a:srgbClr val="FF0000"/>
                </a:solidFill>
              </a:rPr>
              <a:t>tabela</a:t>
            </a:r>
            <a:r>
              <a:rPr lang="pt-BR" sz="2400" dirty="0"/>
              <a:t> de dados</a:t>
            </a:r>
            <a:endParaRPr lang="pt-BR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F1307308-8167-4C57-8594-15BA2616F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113990"/>
              </p:ext>
            </p:extLst>
          </p:nvPr>
        </p:nvGraphicFramePr>
        <p:xfrm>
          <a:off x="1159733" y="2973308"/>
          <a:ext cx="10515600" cy="2133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00221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995868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984888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545287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8596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pt-BR" b="1" dirty="0">
                          <a:effectLst/>
                        </a:rPr>
                        <a:t>SKU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b="1" dirty="0">
                          <a:effectLst/>
                        </a:rPr>
                        <a:t>Produto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b="1" dirty="0">
                          <a:effectLst/>
                        </a:rPr>
                        <a:t>Cor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b="1" dirty="0">
                          <a:effectLst/>
                        </a:rPr>
                        <a:t>Quantidade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b="1" dirty="0">
                          <a:effectLst/>
                        </a:rPr>
                        <a:t>Preço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17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908721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Camisa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45,33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13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456552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Regata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Vermelho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244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22,91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93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789921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Calça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Verde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387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25,92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5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872266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Tênis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154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17,56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95460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EECB43CE-74AA-454F-8581-F5C0D5F1D01D}"/>
              </a:ext>
            </a:extLst>
          </p:cNvPr>
          <p:cNvSpPr txBox="1"/>
          <p:nvPr/>
        </p:nvSpPr>
        <p:spPr>
          <a:xfrm>
            <a:off x="1023256" y="5934326"/>
            <a:ext cx="109369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Observe como os dados tabulares são organizados em </a:t>
            </a:r>
            <a:r>
              <a:rPr lang="pt-BR" sz="2000" dirty="0">
                <a:solidFill>
                  <a:srgbClr val="FF0000"/>
                </a:solidFill>
              </a:rPr>
              <a:t>linhas</a:t>
            </a:r>
            <a:r>
              <a:rPr lang="pt-BR" sz="2000" dirty="0"/>
              <a:t> e </a:t>
            </a:r>
            <a:r>
              <a:rPr lang="pt-BR" sz="2000" dirty="0">
                <a:solidFill>
                  <a:srgbClr val="FF0000"/>
                </a:solidFill>
              </a:rPr>
              <a:t>colunas</a:t>
            </a:r>
            <a:r>
              <a:rPr lang="pt-BR" sz="2000" dirty="0"/>
              <a:t> 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367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Dados tabulares –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DataFrames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962135" y="1688219"/>
            <a:ext cx="1093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 </a:t>
            </a:r>
            <a:r>
              <a:rPr lang="pt-BR" sz="2400" dirty="0" err="1"/>
              <a:t>DataFrame</a:t>
            </a:r>
            <a:r>
              <a:rPr lang="pt-BR" sz="2400" dirty="0"/>
              <a:t> é uma estrutura bidimensional de dados, como uma planilha. 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335EDB9F-7840-4971-822B-E0E4E79C1318}"/>
              </a:ext>
            </a:extLst>
          </p:cNvPr>
          <p:cNvSpPr/>
          <p:nvPr/>
        </p:nvSpPr>
        <p:spPr>
          <a:xfrm>
            <a:off x="220393" y="3261566"/>
            <a:ext cx="609600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000" dirty="0" err="1"/>
              <a:t>df</a:t>
            </a:r>
            <a:r>
              <a:rPr lang="pt-BR" sz="2000" dirty="0"/>
              <a:t> = </a:t>
            </a:r>
            <a:r>
              <a:rPr lang="pt-BR" sz="2000" dirty="0" err="1"/>
              <a:t>pd.DataFrame</a:t>
            </a:r>
            <a:r>
              <a:rPr lang="pt-BR" sz="2000" dirty="0"/>
              <a:t>({'Aluno' : ["Wilfred", "</a:t>
            </a:r>
            <a:r>
              <a:rPr lang="pt-BR" sz="2000" dirty="0" err="1"/>
              <a:t>Abbie</a:t>
            </a:r>
            <a:r>
              <a:rPr lang="pt-BR" sz="2000" dirty="0"/>
              <a:t>", "Harry", "Julia", "Carrie"],</a:t>
            </a:r>
          </a:p>
          <a:p>
            <a:pPr algn="just"/>
            <a:r>
              <a:rPr lang="pt-BR" sz="2000" dirty="0"/>
              <a:t>                   'Faltas' : [3,4,2,1,4],</a:t>
            </a:r>
          </a:p>
          <a:p>
            <a:pPr algn="just"/>
            <a:r>
              <a:rPr lang="pt-BR" sz="2000" dirty="0"/>
              <a:t>                   'Prova' : [2,7,5,10,6],</a:t>
            </a:r>
          </a:p>
          <a:p>
            <a:pPr algn="just"/>
            <a:r>
              <a:rPr lang="pt-BR" sz="2000" dirty="0"/>
              <a:t>                   'Seminário': [8.5,7.5,9.0,7.5,8.0]})</a:t>
            </a:r>
          </a:p>
          <a:p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A9402B2-04B8-4834-AD0D-F315606679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7405" y="2739703"/>
            <a:ext cx="3684202" cy="2539867"/>
          </a:xfrm>
          <a:prstGeom prst="rect">
            <a:avLst/>
          </a:prstGeom>
        </p:spPr>
      </p:pic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234904AC-35EC-4A07-9596-A60D992A32AB}"/>
              </a:ext>
            </a:extLst>
          </p:cNvPr>
          <p:cNvSpPr/>
          <p:nvPr/>
        </p:nvSpPr>
        <p:spPr>
          <a:xfrm>
            <a:off x="6641636" y="3897400"/>
            <a:ext cx="750201" cy="63654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0996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5" grpId="0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 err="1">
                <a:solidFill>
                  <a:srgbClr val="003958"/>
                </a:solidFill>
                <a:latin typeface="+mj-lt"/>
              </a:rPr>
              <a:t>DataFrames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principais operações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976203" y="1688219"/>
            <a:ext cx="10936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Abrindo e escrevendo arquivos</a:t>
            </a:r>
            <a:endParaRPr lang="pt-BR" sz="200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6FD5DE6-3BA4-407E-AB74-FB05823BA59C}"/>
              </a:ext>
            </a:extLst>
          </p:cNvPr>
          <p:cNvSpPr/>
          <p:nvPr/>
        </p:nvSpPr>
        <p:spPr>
          <a:xfrm>
            <a:off x="2082017" y="2836611"/>
            <a:ext cx="81170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/>
              <a:t>pd.read_csv</a:t>
            </a:r>
            <a:r>
              <a:rPr lang="pt-BR" sz="2400" dirty="0"/>
              <a:t>('nome_do_arquivo.csv', </a:t>
            </a:r>
            <a:r>
              <a:rPr lang="pt-BR" sz="2400" dirty="0" err="1"/>
              <a:t>encoding</a:t>
            </a:r>
            <a:r>
              <a:rPr lang="pt-BR" sz="2400" dirty="0"/>
              <a:t>='ISO-8859-1’)</a:t>
            </a:r>
          </a:p>
          <a:p>
            <a:endParaRPr lang="pt-BR" sz="2400" dirty="0"/>
          </a:p>
          <a:p>
            <a:r>
              <a:rPr lang="pt-BR" sz="2400" dirty="0" err="1"/>
              <a:t>pd.to_csv</a:t>
            </a:r>
            <a:r>
              <a:rPr lang="pt-BR" sz="2400" dirty="0"/>
              <a:t>('nome_do_arquivo_para_salvar.csv’)</a:t>
            </a:r>
          </a:p>
          <a:p>
            <a:endParaRPr lang="pt-BR" sz="2400" dirty="0"/>
          </a:p>
          <a:p>
            <a:r>
              <a:rPr lang="pt-BR" sz="2400" dirty="0"/>
              <a:t>------------------------------------------------------------------------------------</a:t>
            </a:r>
          </a:p>
          <a:p>
            <a:endParaRPr lang="pt-BR" sz="2400" dirty="0"/>
          </a:p>
          <a:p>
            <a:r>
              <a:rPr lang="pt-BR" sz="2400" dirty="0" err="1"/>
              <a:t>xlsx</a:t>
            </a:r>
            <a:r>
              <a:rPr lang="pt-BR" sz="2400" dirty="0"/>
              <a:t> = </a:t>
            </a:r>
            <a:r>
              <a:rPr lang="pt-BR" sz="2400" dirty="0" err="1"/>
              <a:t>pd.ExcelFile</a:t>
            </a:r>
            <a:r>
              <a:rPr lang="pt-BR" sz="2400" dirty="0"/>
              <a:t>('seu_arquivo_excel.xlsx’)</a:t>
            </a:r>
          </a:p>
          <a:p>
            <a:endParaRPr lang="pt-BR" sz="2400" dirty="0"/>
          </a:p>
          <a:p>
            <a:r>
              <a:rPr lang="pt-BR" sz="2400" dirty="0" err="1"/>
              <a:t>pd.read_excel</a:t>
            </a:r>
            <a:r>
              <a:rPr lang="pt-BR" sz="2400" dirty="0"/>
              <a:t>(</a:t>
            </a:r>
            <a:r>
              <a:rPr lang="pt-BR" sz="2400" dirty="0" err="1"/>
              <a:t>xlsx</a:t>
            </a:r>
            <a:r>
              <a:rPr lang="pt-BR" sz="2400" dirty="0"/>
              <a:t>, 'Planilha 1')</a:t>
            </a:r>
          </a:p>
        </p:txBody>
      </p:sp>
    </p:spTree>
    <p:extLst>
      <p:ext uri="{BB962C8B-B14F-4D97-AF65-F5344CB8AC3E}">
        <p14:creationId xmlns:p14="http://schemas.microsoft.com/office/powerpoint/2010/main" val="3791816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 err="1">
                <a:solidFill>
                  <a:srgbClr val="003958"/>
                </a:solidFill>
                <a:latin typeface="+mj-lt"/>
              </a:rPr>
              <a:t>Dataset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Titanic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9236146-980E-4687-AD53-73E94CEFC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4500" y="1763450"/>
            <a:ext cx="5126037" cy="3396956"/>
          </a:xfrm>
          <a:prstGeom prst="rect">
            <a:avLst/>
          </a:prstGeom>
        </p:spPr>
      </p:pic>
      <p:pic>
        <p:nvPicPr>
          <p:cNvPr id="12" name="Imagem 11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A49340E-A2F3-419D-BBBD-79C27C4B43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2475" y="2076261"/>
            <a:ext cx="3153215" cy="2705478"/>
          </a:xfrm>
          <a:prstGeom prst="rect">
            <a:avLst/>
          </a:prstGeom>
        </p:spPr>
      </p:pic>
      <p:sp>
        <p:nvSpPr>
          <p:cNvPr id="13" name="Elipse 12">
            <a:extLst>
              <a:ext uri="{FF2B5EF4-FFF2-40B4-BE49-F238E27FC236}">
                <a16:creationId xmlns:a16="http://schemas.microsoft.com/office/drawing/2014/main" id="{7D8787FA-614A-4CA2-A005-2B2D8E1C7434}"/>
              </a:ext>
            </a:extLst>
          </p:cNvPr>
          <p:cNvSpPr/>
          <p:nvPr/>
        </p:nvSpPr>
        <p:spPr>
          <a:xfrm>
            <a:off x="8089900" y="2438400"/>
            <a:ext cx="774700" cy="723900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02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613A7222-0730-ABBF-C656-4B15ADD01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84" y="1865091"/>
            <a:ext cx="10075806" cy="295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719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94413A0-BFD1-AD71-39CC-2AC49B8E3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6902" y="1568385"/>
            <a:ext cx="9403344" cy="4948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9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DF934DD-D3E7-C42E-70DE-BFD446C8B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682" y="1494840"/>
            <a:ext cx="9568543" cy="490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0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 err="1">
                <a:solidFill>
                  <a:srgbClr val="003958"/>
                </a:solidFill>
                <a:latin typeface="+mj-lt"/>
              </a:rPr>
              <a:t>DataFrames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principais operações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976203" y="1688219"/>
            <a:ext cx="10936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Removendo linhas e colunas</a:t>
            </a:r>
            <a:endParaRPr lang="pt-BR" sz="2000" dirty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6FD5DE6-3BA4-407E-AB74-FB05823BA59C}"/>
              </a:ext>
            </a:extLst>
          </p:cNvPr>
          <p:cNvSpPr/>
          <p:nvPr/>
        </p:nvSpPr>
        <p:spPr>
          <a:xfrm>
            <a:off x="1702189" y="2368803"/>
            <a:ext cx="811705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/>
              <a:t>data_frame.drop</a:t>
            </a:r>
            <a:r>
              <a:rPr lang="pt-BR" sz="2400" dirty="0"/>
              <a:t>([0, 1]) </a:t>
            </a:r>
          </a:p>
          <a:p>
            <a:endParaRPr lang="pt-BR" sz="2400" dirty="0"/>
          </a:p>
          <a:p>
            <a:r>
              <a:rPr lang="pt-BR" sz="2400" dirty="0" err="1"/>
              <a:t>data_frame.drop</a:t>
            </a:r>
            <a:r>
              <a:rPr lang="pt-BR" sz="2400" dirty="0"/>
              <a:t>('País', </a:t>
            </a:r>
            <a:r>
              <a:rPr lang="pt-BR" sz="2400" dirty="0" err="1"/>
              <a:t>axis</a:t>
            </a:r>
            <a:r>
              <a:rPr lang="pt-BR" sz="2400" dirty="0"/>
              <a:t>=1)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C96E92-5782-405E-AB9F-130C7906EC4C}"/>
              </a:ext>
            </a:extLst>
          </p:cNvPr>
          <p:cNvSpPr txBox="1"/>
          <p:nvPr/>
        </p:nvSpPr>
        <p:spPr>
          <a:xfrm>
            <a:off x="979232" y="3953116"/>
            <a:ext cx="10936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Coletando informações básicas  </a:t>
            </a:r>
            <a:endParaRPr lang="pt-BR" sz="2000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C7D6F7F-5704-449D-9D35-2265EC63E2D3}"/>
              </a:ext>
            </a:extLst>
          </p:cNvPr>
          <p:cNvSpPr/>
          <p:nvPr/>
        </p:nvSpPr>
        <p:spPr>
          <a:xfrm>
            <a:off x="1713909" y="4575083"/>
            <a:ext cx="811705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/>
              <a:t>data_frame.shape</a:t>
            </a:r>
            <a:r>
              <a:rPr lang="pt-BR" sz="2400" dirty="0"/>
              <a:t> </a:t>
            </a:r>
          </a:p>
          <a:p>
            <a:endParaRPr lang="pt-BR" sz="2400" dirty="0"/>
          </a:p>
          <a:p>
            <a:r>
              <a:rPr lang="pt-BR" sz="2400" dirty="0" err="1"/>
              <a:t>data_frame.index</a:t>
            </a:r>
            <a:r>
              <a:rPr lang="pt-BR" sz="2400" dirty="0"/>
              <a:t> </a:t>
            </a:r>
          </a:p>
          <a:p>
            <a:endParaRPr lang="pt-BR" sz="2400" dirty="0"/>
          </a:p>
          <a:p>
            <a:r>
              <a:rPr lang="pt-BR" sz="2400" dirty="0" err="1"/>
              <a:t>data_frame.columns</a:t>
            </a:r>
            <a:endParaRPr lang="pt-BR" sz="2400" dirty="0"/>
          </a:p>
        </p:txBody>
      </p:sp>
      <p:pic>
        <p:nvPicPr>
          <p:cNvPr id="1026" name="Picture 2" descr="python - Ambiguity in Pandas Dataframe / Numpy Array &quot;axis&quot; definition -  Stack Overflow">
            <a:extLst>
              <a:ext uri="{FF2B5EF4-FFF2-40B4-BE49-F238E27FC236}">
                <a16:creationId xmlns:a16="http://schemas.microsoft.com/office/drawing/2014/main" id="{1D81F51F-FAEA-F531-1FF5-E35760435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3067" y="1361234"/>
            <a:ext cx="4607196" cy="239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58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 err="1">
                <a:solidFill>
                  <a:srgbClr val="003958"/>
                </a:solidFill>
                <a:latin typeface="+mj-lt"/>
              </a:rPr>
              <a:t>DataFrames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principais operações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C96E92-5782-405E-AB9F-130C7906EC4C}"/>
              </a:ext>
            </a:extLst>
          </p:cNvPr>
          <p:cNvSpPr txBox="1"/>
          <p:nvPr/>
        </p:nvSpPr>
        <p:spPr>
          <a:xfrm>
            <a:off x="979232" y="1885162"/>
            <a:ext cx="10936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800" dirty="0"/>
              <a:t>Coletando informações básicas  </a:t>
            </a:r>
            <a:endParaRPr lang="pt-BR" sz="2000" dirty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C7D6F7F-5704-449D-9D35-2265EC63E2D3}"/>
              </a:ext>
            </a:extLst>
          </p:cNvPr>
          <p:cNvSpPr/>
          <p:nvPr/>
        </p:nvSpPr>
        <p:spPr>
          <a:xfrm>
            <a:off x="1713909" y="2507129"/>
            <a:ext cx="811705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/>
              <a:t>data_frame.info() </a:t>
            </a:r>
          </a:p>
          <a:p>
            <a:endParaRPr lang="pt-BR" sz="2400" dirty="0"/>
          </a:p>
          <a:p>
            <a:r>
              <a:rPr lang="pt-BR" sz="2400" dirty="0" err="1"/>
              <a:t>data_frame.describe</a:t>
            </a:r>
            <a:r>
              <a:rPr lang="pt-BR" sz="2400" dirty="0"/>
              <a:t>() </a:t>
            </a:r>
          </a:p>
          <a:p>
            <a:endParaRPr lang="pt-BR" sz="2400" dirty="0"/>
          </a:p>
          <a:p>
            <a:r>
              <a:rPr lang="pt-BR" sz="2400" dirty="0" err="1"/>
              <a:t>data_frame.min</a:t>
            </a:r>
            <a:r>
              <a:rPr lang="pt-BR" sz="2400" dirty="0"/>
              <a:t>()</a:t>
            </a:r>
          </a:p>
          <a:p>
            <a:endParaRPr lang="pt-BR" sz="2400" dirty="0"/>
          </a:p>
          <a:p>
            <a:r>
              <a:rPr lang="pt-BR" sz="2400" dirty="0" err="1"/>
              <a:t>data_frame.max</a:t>
            </a:r>
            <a:r>
              <a:rPr lang="pt-BR" sz="2400" dirty="0"/>
              <a:t>()</a:t>
            </a:r>
          </a:p>
          <a:p>
            <a:endParaRPr lang="pt-BR" sz="2400" dirty="0"/>
          </a:p>
          <a:p>
            <a:r>
              <a:rPr lang="pt-BR" sz="2400" dirty="0" err="1"/>
              <a:t>data_frame.sum</a:t>
            </a:r>
            <a:r>
              <a:rPr lang="pt-BR" sz="2400" dirty="0"/>
              <a:t>()</a:t>
            </a:r>
          </a:p>
          <a:p>
            <a:endParaRPr lang="pt-BR" sz="24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5C7668C-60B1-4F27-8DEE-FF101C26B5E1}"/>
              </a:ext>
            </a:extLst>
          </p:cNvPr>
          <p:cNvSpPr/>
          <p:nvPr/>
        </p:nvSpPr>
        <p:spPr>
          <a:xfrm>
            <a:off x="1774896" y="6206862"/>
            <a:ext cx="597458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2000" dirty="0"/>
              <a:t>https://pandas.pydata.org/docs/user_guide/index.html</a:t>
            </a:r>
          </a:p>
        </p:txBody>
      </p:sp>
    </p:spTree>
    <p:extLst>
      <p:ext uri="{BB962C8B-B14F-4D97-AF65-F5344CB8AC3E}">
        <p14:creationId xmlns:p14="http://schemas.microsoft.com/office/powerpoint/2010/main" val="70626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0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544759A-5FB1-CFF2-302F-42DCACACFF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1213" y="1153749"/>
            <a:ext cx="8781769" cy="559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702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BAF0C23-E4A1-C905-8223-ABB97213E3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218" y="1392975"/>
            <a:ext cx="5316964" cy="514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8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32A171-08D9-8274-78A5-411BDA9EF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1706" y="1626881"/>
            <a:ext cx="9771163" cy="391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12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00A4368-F99A-2ABE-5341-FEF5C51AD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1865091"/>
            <a:ext cx="4448537" cy="360508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8D32FB1E-EE87-3DB5-FB58-12ABBC59B5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6171" y="1957455"/>
            <a:ext cx="5298156" cy="307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5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32BC6E1-BE7D-7837-8F77-5199C1DF00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743" y="1572265"/>
            <a:ext cx="10285590" cy="451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7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Tratamento de dados nulos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963344" y="1687354"/>
            <a:ext cx="1093691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/>
              <a:t>Uma parte muito importante do pré-processamento é a limpeza dos dados que não queremos ou estão incompletos.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FAE9D24-98D3-4E12-9836-78BAC4D98073}"/>
              </a:ext>
            </a:extLst>
          </p:cNvPr>
          <p:cNvSpPr txBox="1"/>
          <p:nvPr/>
        </p:nvSpPr>
        <p:spPr>
          <a:xfrm>
            <a:off x="1023257" y="2516949"/>
            <a:ext cx="109369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São algumas das ações que podemos tomar:</a:t>
            </a:r>
          </a:p>
          <a:p>
            <a:pPr algn="just"/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66F2CA4-33F0-4238-BE5B-FE026035F0DA}"/>
              </a:ext>
            </a:extLst>
          </p:cNvPr>
          <p:cNvSpPr txBox="1"/>
          <p:nvPr/>
        </p:nvSpPr>
        <p:spPr>
          <a:xfrm>
            <a:off x="2856390" y="3347946"/>
            <a:ext cx="6316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Excluir a coluna que contenha dados nulos;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D7B09AB-5448-4088-9C45-CEE89F784551}"/>
              </a:ext>
            </a:extLst>
          </p:cNvPr>
          <p:cNvSpPr txBox="1"/>
          <p:nvPr/>
        </p:nvSpPr>
        <p:spPr>
          <a:xfrm>
            <a:off x="2856390" y="3874740"/>
            <a:ext cx="6316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Excluir apenas as linhas com dados nulos;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CC92811-AC21-4427-BA2E-DA96364C9464}"/>
              </a:ext>
            </a:extLst>
          </p:cNvPr>
          <p:cNvSpPr txBox="1"/>
          <p:nvPr/>
        </p:nvSpPr>
        <p:spPr>
          <a:xfrm>
            <a:off x="2856390" y="4443365"/>
            <a:ext cx="6316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Substituir pela média da coluna;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C951ED35-C4C7-43AC-BCDE-4DDF51730D21}"/>
              </a:ext>
            </a:extLst>
          </p:cNvPr>
          <p:cNvSpPr txBox="1"/>
          <p:nvPr/>
        </p:nvSpPr>
        <p:spPr>
          <a:xfrm>
            <a:off x="2856390" y="4978267"/>
            <a:ext cx="63164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Substituir por um valor fixo;</a:t>
            </a:r>
          </a:p>
        </p:txBody>
      </p:sp>
    </p:spTree>
    <p:extLst>
      <p:ext uri="{BB962C8B-B14F-4D97-AF65-F5344CB8AC3E}">
        <p14:creationId xmlns:p14="http://schemas.microsoft.com/office/powerpoint/2010/main" val="1416988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2" grpId="0"/>
      <p:bldP spid="14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474DACC-A64F-6F48-4974-25044B79FF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2727" y="1621340"/>
            <a:ext cx="7483415" cy="4200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7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25CE4ED6-D9C8-8028-7351-437080F4C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1727" y="1319072"/>
            <a:ext cx="6873036" cy="504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44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19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2C50EF3-8CFB-55CD-30DB-77F294380D6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3688"/>
          <a:stretch/>
        </p:blipFill>
        <p:spPr>
          <a:xfrm>
            <a:off x="3671456" y="1787104"/>
            <a:ext cx="4035630" cy="291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92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Escalonamento de dados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627540" y="1926448"/>
            <a:ext cx="1093691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Escalar dados significa transformá-los para que os valores caibam em algum intervalo ou escala.</a:t>
            </a:r>
          </a:p>
          <a:p>
            <a:pPr algn="just"/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A6C478D-1C06-4E05-9E5D-BAC4C59C41EA}"/>
              </a:ext>
            </a:extLst>
          </p:cNvPr>
          <p:cNvSpPr txBox="1"/>
          <p:nvPr/>
        </p:nvSpPr>
        <p:spPr>
          <a:xfrm>
            <a:off x="627540" y="3109612"/>
            <a:ext cx="1093691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Existem várias razões pelas quais é uma boa ideia dimensionar seus dados antes de inseri-los em um algoritmo de aprendizado de máquina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73F14D9-C906-4CC6-9AAC-81ED270563EB}"/>
              </a:ext>
            </a:extLst>
          </p:cNvPr>
          <p:cNvSpPr txBox="1"/>
          <p:nvPr/>
        </p:nvSpPr>
        <p:spPr>
          <a:xfrm>
            <a:off x="627541" y="4375228"/>
            <a:ext cx="109369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dirty="0"/>
              <a:t>Além disso, como a maioria dos algoritmos está usando a distância euclidiana em segundo plano, ter recursos escalados é melhor na construção de modelos.</a:t>
            </a:r>
          </a:p>
        </p:txBody>
      </p:sp>
    </p:spTree>
    <p:extLst>
      <p:ext uri="{BB962C8B-B14F-4D97-AF65-F5344CB8AC3E}">
        <p14:creationId xmlns:p14="http://schemas.microsoft.com/office/powerpoint/2010/main" val="161792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Escalonamento de dados por padronização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963344" y="1218381"/>
            <a:ext cx="1093691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400" dirty="0"/>
          </a:p>
          <a:p>
            <a:pPr algn="just"/>
            <a:r>
              <a:rPr lang="pt-BR" sz="2400" dirty="0"/>
              <a:t>A </a:t>
            </a:r>
            <a:r>
              <a:rPr lang="pt-BR" sz="2400" dirty="0">
                <a:solidFill>
                  <a:srgbClr val="FF0000"/>
                </a:solidFill>
              </a:rPr>
              <a:t>padronização</a:t>
            </a:r>
            <a:r>
              <a:rPr lang="pt-BR" sz="2400" dirty="0"/>
              <a:t> redimensiona os dados para que eles tenham uma média de 0 e um desvio padrão de 1.</a:t>
            </a:r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Subtraímos a média (𝜇) de cada valor (x) e depois dividimos pelo desvio padrão (𝜎). </a:t>
            </a:r>
          </a:p>
          <a:p>
            <a:pPr algn="just"/>
            <a:endParaRPr lang="pt-BR" dirty="0"/>
          </a:p>
        </p:txBody>
      </p:sp>
      <p:pic>
        <p:nvPicPr>
          <p:cNvPr id="7170" name="Picture 2" descr="Normalizar ou padronizar as variáveis? | by Arthur Lamblet Vaz | Data  Hackers | Medium">
            <a:extLst>
              <a:ext uri="{FF2B5EF4-FFF2-40B4-BE49-F238E27FC236}">
                <a16:creationId xmlns:a16="http://schemas.microsoft.com/office/drawing/2014/main" id="{FFA9B2B1-0661-4D12-9E80-B00D3040E6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262" y="3193333"/>
            <a:ext cx="265747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575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Escalonamento de dados por padronização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963344" y="1637253"/>
            <a:ext cx="109369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Suponha que tenhamos uma amostra que contém três pontos de dados com os seguintes valores: 50, 100, 150.</a:t>
            </a:r>
          </a:p>
          <a:p>
            <a:pPr algn="just"/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C35F73E-3BCC-41FF-8FF0-A7EEFC56E003}"/>
              </a:ext>
            </a:extLst>
          </p:cNvPr>
          <p:cNvSpPr txBox="1"/>
          <p:nvPr/>
        </p:nvSpPr>
        <p:spPr>
          <a:xfrm>
            <a:off x="911678" y="2960692"/>
            <a:ext cx="1110016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A média dos nossos dados seria 100, enquanto o desvio padrão da amostra seria 50.</a:t>
            </a:r>
          </a:p>
          <a:p>
            <a:pPr algn="just"/>
            <a:endParaRPr lang="pt-BR" sz="2400" dirty="0"/>
          </a:p>
          <a:p>
            <a:pPr lvl="8" algn="just"/>
            <a:r>
              <a:rPr lang="pt-BR" sz="2400" dirty="0"/>
              <a:t>(50 − 100)/50 = -50/50 = -1</a:t>
            </a:r>
          </a:p>
          <a:p>
            <a:pPr lvl="8" algn="just"/>
            <a:r>
              <a:rPr lang="pt-BR" sz="2400" dirty="0"/>
              <a:t>(100 − 100)/50 = 0/50 = 0</a:t>
            </a:r>
          </a:p>
          <a:p>
            <a:pPr lvl="8" algn="just"/>
            <a:r>
              <a:rPr lang="pt-BR" sz="2400" dirty="0"/>
              <a:t>(150 − 100)/50 = 50/50 = 1</a:t>
            </a:r>
          </a:p>
          <a:p>
            <a:pPr lvl="8" algn="just"/>
            <a:endParaRPr lang="pt-BR" sz="2400" dirty="0"/>
          </a:p>
          <a:p>
            <a:pPr algn="just"/>
            <a:r>
              <a:rPr lang="pt-BR" sz="2400" dirty="0"/>
              <a:t>O resultado da padronização é que nossa distribuição de dados agora tem uma média de 0 e um desvio padrão de 1</a:t>
            </a:r>
          </a:p>
        </p:txBody>
      </p:sp>
    </p:spTree>
    <p:extLst>
      <p:ext uri="{BB962C8B-B14F-4D97-AF65-F5344CB8AC3E}">
        <p14:creationId xmlns:p14="http://schemas.microsoft.com/office/powerpoint/2010/main" val="96961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 descr="Texto&#10;&#10;Descrição gerada automaticamente">
            <a:extLst>
              <a:ext uri="{FF2B5EF4-FFF2-40B4-BE49-F238E27FC236}">
                <a16:creationId xmlns:a16="http://schemas.microsoft.com/office/drawing/2014/main" id="{D9DFDA60-DA25-45B9-BF02-B7EC8255060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10" b="42574"/>
          <a:stretch/>
        </p:blipFill>
        <p:spPr>
          <a:xfrm>
            <a:off x="1431416" y="1494840"/>
            <a:ext cx="9329168" cy="443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02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4534487-690B-480A-BE2F-28E335AD1A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170" y="2120633"/>
            <a:ext cx="10983659" cy="1711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930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12" name="Imagem 11" descr="Tabela&#10;&#10;Descrição gerada automaticamente">
            <a:extLst>
              <a:ext uri="{FF2B5EF4-FFF2-40B4-BE49-F238E27FC236}">
                <a16:creationId xmlns:a16="http://schemas.microsoft.com/office/drawing/2014/main" id="{BB293424-1CFA-4D76-BFED-7613E65BA3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6540" y="1409576"/>
            <a:ext cx="8823767" cy="503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4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Escalonamento de dados por normalização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CAEECC0-BDE4-47FC-9B1D-8229780C6E38}"/>
                  </a:ext>
                </a:extLst>
              </p:cNvPr>
              <p:cNvSpPr txBox="1"/>
              <p:nvPr/>
            </p:nvSpPr>
            <p:spPr>
              <a:xfrm>
                <a:off x="963344" y="1865091"/>
                <a:ext cx="10936919" cy="44131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pt-BR" sz="2800" dirty="0"/>
                  <a:t>A </a:t>
                </a:r>
                <a:r>
                  <a:rPr lang="pt-BR" sz="2800" dirty="0">
                    <a:solidFill>
                      <a:srgbClr val="FF0000"/>
                    </a:solidFill>
                  </a:rPr>
                  <a:t>normalização</a:t>
                </a:r>
                <a:r>
                  <a:rPr lang="pt-BR" sz="2800" dirty="0"/>
                  <a:t> redimensiona os dados no intervalo.</a:t>
                </a:r>
              </a:p>
              <a:p>
                <a:pPr algn="just"/>
                <a:endParaRPr lang="pt-BR" sz="2800" dirty="0"/>
              </a:p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pt-BR" sz="2800" i="1"/>
                            <m:t>(</m:t>
                          </m:r>
                          <m:r>
                            <m:rPr>
                              <m:nor/>
                            </m:rPr>
                            <a:rPr lang="pt-BR" sz="2800" i="1"/>
                            <m:t>𝑥</m:t>
                          </m:r>
                          <m:r>
                            <m:rPr>
                              <m:nor/>
                            </m:rPr>
                            <a:rPr lang="pt-BR" sz="2800" i="1"/>
                            <m:t> −</m:t>
                          </m:r>
                          <m:r>
                            <m:rPr>
                              <m:nor/>
                            </m:rPr>
                            <a:rPr lang="pt-BR" sz="2800" i="1"/>
                            <m:t>𝑥𝑚𝑖𝑛</m:t>
                          </m:r>
                          <m:r>
                            <m:rPr>
                              <m:nor/>
                            </m:rPr>
                            <a:rPr lang="pt-BR" sz="2800" i="1"/>
                            <m:t>)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pt-BR" sz="2800" i="1"/>
                            <m:t>(</m:t>
                          </m:r>
                          <m:r>
                            <m:rPr>
                              <m:nor/>
                            </m:rPr>
                            <a:rPr lang="pt-BR" sz="2800" i="1"/>
                            <m:t>𝑥𝑚𝑎𝑥</m:t>
                          </m:r>
                          <m:r>
                            <m:rPr>
                              <m:nor/>
                            </m:rPr>
                            <a:rPr lang="pt-BR" sz="2800" i="1"/>
                            <m:t> −</m:t>
                          </m:r>
                          <m:r>
                            <m:rPr>
                              <m:nor/>
                            </m:rPr>
                            <a:rPr lang="pt-BR" sz="2800" i="1"/>
                            <m:t>𝑥𝑚𝑖𝑛</m:t>
                          </m:r>
                          <m:r>
                            <m:rPr>
                              <m:nor/>
                            </m:rPr>
                            <a:rPr lang="pt-BR" sz="2800" i="1"/>
                            <m:t>)</m:t>
                          </m:r>
                          <m:r>
                            <m:rPr>
                              <m:nor/>
                            </m:rPr>
                            <a:rPr lang="pt-BR" sz="2800" dirty="0"/>
                            <m:t> </m:t>
                          </m:r>
                        </m:den>
                      </m:f>
                    </m:oMath>
                  </m:oMathPara>
                </a14:m>
                <a:endParaRPr lang="pt-BR" sz="2800" dirty="0"/>
              </a:p>
              <a:p>
                <a:pPr algn="just"/>
                <a:endParaRPr lang="pt-BR" sz="2400" dirty="0"/>
              </a:p>
              <a:p>
                <a:pPr algn="just"/>
                <a:r>
                  <a:rPr lang="pt-BR" sz="2400" dirty="0"/>
                  <a:t>Para cada valor individual, você subtrai o valor mínimo (𝑥𝑚𝑖𝑛) para essa entrada no conjunto de dados de treinamento e depois divide pelo intervalo dos valores no conjunto de dados de treinamento. </a:t>
                </a:r>
              </a:p>
              <a:p>
                <a:pPr algn="just"/>
                <a:endParaRPr lang="pt-BR" sz="2400" dirty="0"/>
              </a:p>
              <a:p>
                <a:pPr algn="just"/>
                <a:r>
                  <a:rPr lang="pt-BR" sz="2400" dirty="0"/>
                  <a:t>O intervalo dos valores é a diferença entre o valor máximo (𝑥𝑚𝑎𝑥) e o valor mínimo (𝑥𝑚𝑖𝑛).</a:t>
                </a:r>
                <a:endParaRPr lang="pt-BR" dirty="0"/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2CAEECC0-BDE4-47FC-9B1D-8229780C6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344" y="1865091"/>
                <a:ext cx="10936919" cy="4413196"/>
              </a:xfrm>
              <a:prstGeom prst="rect">
                <a:avLst/>
              </a:prstGeom>
              <a:blipFill>
                <a:blip r:embed="rId4"/>
                <a:stretch>
                  <a:fillRect l="-1115" t="-1381" r="-892" b="-221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6642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Escalonamento de dados por normalização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627540" y="1218381"/>
            <a:ext cx="109369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pt-BR" sz="2800" dirty="0"/>
          </a:p>
          <a:p>
            <a:pPr algn="just"/>
            <a:r>
              <a:rPr lang="pt-BR" sz="2800" dirty="0"/>
              <a:t>Suponha que tenhamos uma amostra que contém três pontos de dados com os seguintes valores: 50, 100, 150.</a:t>
            </a:r>
          </a:p>
          <a:p>
            <a:pPr algn="just"/>
            <a:endParaRPr lang="pt-BR" sz="2400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4937F48-5E3A-44ED-910D-E7D68518F325}"/>
              </a:ext>
            </a:extLst>
          </p:cNvPr>
          <p:cNvSpPr/>
          <p:nvPr/>
        </p:nvSpPr>
        <p:spPr>
          <a:xfrm>
            <a:off x="745588" y="2952162"/>
            <a:ext cx="111546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pt-BR" sz="2400" dirty="0"/>
              <a:t>O valor mínimo (𝑥𝑚𝑖𝑛) é 50, enquanto o valor máximo (𝑥𝑚𝑎𝑥) é 150. O intervalo dos valores é 𝑥𝑚𝑎𝑥 −𝑥𝑚𝑖𝑛 = 150 - 50 = 100.</a:t>
            </a:r>
          </a:p>
          <a:p>
            <a:pPr algn="just"/>
            <a:endParaRPr lang="pt-BR" sz="24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FF85DDB-9E55-4947-997E-6028B7A055AD}"/>
              </a:ext>
            </a:extLst>
          </p:cNvPr>
          <p:cNvSpPr txBox="1"/>
          <p:nvPr/>
        </p:nvSpPr>
        <p:spPr>
          <a:xfrm>
            <a:off x="627539" y="3973413"/>
            <a:ext cx="1093691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8" algn="just"/>
            <a:r>
              <a:rPr lang="pt-BR" sz="2400" dirty="0"/>
              <a:t>(50 − 50)/100 = 0/100 = 0</a:t>
            </a:r>
          </a:p>
          <a:p>
            <a:pPr lvl="8" algn="just"/>
            <a:r>
              <a:rPr lang="pt-BR" sz="2400" dirty="0"/>
              <a:t>(100 − 50)/100 = 50/100 = 0.5</a:t>
            </a:r>
          </a:p>
          <a:p>
            <a:pPr lvl="8" algn="just"/>
            <a:r>
              <a:rPr lang="pt-BR" sz="2400" dirty="0"/>
              <a:t>(150 − 50)/100 = 100/100 = 1</a:t>
            </a:r>
          </a:p>
          <a:p>
            <a:pPr lvl="8" algn="just"/>
            <a:endParaRPr lang="pt-BR" sz="2400" dirty="0"/>
          </a:p>
          <a:p>
            <a:pPr algn="just"/>
            <a:r>
              <a:rPr lang="pt-BR" sz="2400" dirty="0"/>
              <a:t>O objetivo era redimensionar nossos dados em valores que variam de 0 a 1, e como você pode ver, foi exatamente isso que a fórmula fez.</a:t>
            </a:r>
          </a:p>
        </p:txBody>
      </p:sp>
    </p:spTree>
    <p:extLst>
      <p:ext uri="{BB962C8B-B14F-4D97-AF65-F5344CB8AC3E}">
        <p14:creationId xmlns:p14="http://schemas.microsoft.com/office/powerpoint/2010/main" val="1076942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4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28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 descr="Tabela&#10;&#10;Descrição gerada automaticamente">
            <a:extLst>
              <a:ext uri="{FF2B5EF4-FFF2-40B4-BE49-F238E27FC236}">
                <a16:creationId xmlns:a16="http://schemas.microsoft.com/office/drawing/2014/main" id="{C3E882C1-C577-4C6D-BD76-CA7E279CE4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827" y="1153748"/>
            <a:ext cx="8227015" cy="570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98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2820F-4FCC-CBEF-711D-707648212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85DE1AC6-30E8-C412-3B14-D402EAC46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A082CDD-C6F5-CBD1-ABBA-F63F375B9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C7E8F68-743A-30EA-78BB-7674A851B235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Normalização x Padronização</a:t>
            </a:r>
          </a:p>
        </p:txBody>
      </p:sp>
      <p:sp>
        <p:nvSpPr>
          <p:cNvPr id="2" name="Espaço Reservado para Número de Slide 1">
            <a:extLst>
              <a:ext uri="{FF2B5EF4-FFF2-40B4-BE49-F238E27FC236}">
                <a16:creationId xmlns:a16="http://schemas.microsoft.com/office/drawing/2014/main" id="{9C8669D1-EEF1-384B-D75D-13CD9A4CA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29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A418DBA-B2A8-6D66-903D-C17A3EE35D8E}"/>
              </a:ext>
            </a:extLst>
          </p:cNvPr>
          <p:cNvSpPr txBox="1"/>
          <p:nvPr/>
        </p:nvSpPr>
        <p:spPr>
          <a:xfrm>
            <a:off x="651163" y="1326912"/>
            <a:ext cx="10434527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Padronização Características:</a:t>
            </a:r>
          </a:p>
          <a:p>
            <a:pPr>
              <a:buNone/>
            </a:pP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Mantém a distribuição original (não "força" limites de mínimo e máximo).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Menos sensível a outliers do que a normalização Min-Max (mas ainda pode ser afetada).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Comum quando os dados seguem (ou se espera que sigam) uma </a:t>
            </a:r>
            <a:r>
              <a:rPr lang="pt-BR" sz="2000" b="1" dirty="0"/>
              <a:t>distribuição normal</a:t>
            </a:r>
            <a:r>
              <a:rPr lang="pt-BR" sz="2000" dirty="0"/>
              <a:t>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339A4C2-F10D-6A35-5109-7F1133282F20}"/>
              </a:ext>
            </a:extLst>
          </p:cNvPr>
          <p:cNvSpPr txBox="1"/>
          <p:nvPr/>
        </p:nvSpPr>
        <p:spPr>
          <a:xfrm>
            <a:off x="651163" y="4010174"/>
            <a:ext cx="863138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000" b="1" dirty="0"/>
              <a:t>Normalização Características:</a:t>
            </a:r>
          </a:p>
          <a:p>
            <a:pPr>
              <a:buNone/>
            </a:pP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Mantém a </a:t>
            </a:r>
            <a:r>
              <a:rPr lang="pt-BR" sz="2000" b="1" dirty="0"/>
              <a:t>forma da distribuição</a:t>
            </a:r>
            <a:r>
              <a:rPr lang="pt-BR" sz="2000" dirty="0"/>
              <a:t> (mas muda a escala).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Muito sensível a </a:t>
            </a:r>
            <a:r>
              <a:rPr lang="pt-BR" sz="2000" b="1" dirty="0"/>
              <a:t>outliers</a:t>
            </a:r>
            <a:r>
              <a:rPr lang="pt-BR" sz="2000" dirty="0"/>
              <a:t>: um valor extremo pode achatar todo o resto.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Garante que todas as features estejam no mesmo intervalo fixo.</a:t>
            </a:r>
          </a:p>
        </p:txBody>
      </p:sp>
    </p:spTree>
    <p:extLst>
      <p:ext uri="{BB962C8B-B14F-4D97-AF65-F5344CB8AC3E}">
        <p14:creationId xmlns:p14="http://schemas.microsoft.com/office/powerpoint/2010/main" val="2188385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Tipos comuns de dados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30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993300" y="1575221"/>
            <a:ext cx="10936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b="1" dirty="0"/>
              <a:t>Dados Categóricos</a:t>
            </a:r>
            <a:endParaRPr lang="pt-BR" dirty="0"/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F1307308-8167-4C57-8594-15BA2616FDF5}"/>
              </a:ext>
            </a:extLst>
          </p:cNvPr>
          <p:cNvGraphicFramePr>
            <a:graphicFrameLocks noGrp="1"/>
          </p:cNvGraphicFramePr>
          <p:nvPr/>
        </p:nvGraphicFramePr>
        <p:xfrm>
          <a:off x="1023257" y="3754315"/>
          <a:ext cx="10515600" cy="2133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00221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995868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984888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545287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8596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SKU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Produto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Cor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Quantidade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Preço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17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908721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Camisa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45,33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13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456552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Tênis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Vermelho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244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22,91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93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789921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Bermuda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Verde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387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25,92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5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872266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Camisa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154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17,56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95460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17DC1491-A07B-4D1C-9DE4-FBB828442D0D}"/>
              </a:ext>
            </a:extLst>
          </p:cNvPr>
          <p:cNvSpPr txBox="1"/>
          <p:nvPr/>
        </p:nvSpPr>
        <p:spPr>
          <a:xfrm>
            <a:off x="1724297" y="2341712"/>
            <a:ext cx="1020592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São dados decorrentes da observação de variáveis categóricas, ou seja, aqueles que identificam para cada caso uma categoria.</a:t>
            </a:r>
          </a:p>
        </p:txBody>
      </p:sp>
    </p:spTree>
    <p:extLst>
      <p:ext uri="{BB962C8B-B14F-4D97-AF65-F5344CB8AC3E}">
        <p14:creationId xmlns:p14="http://schemas.microsoft.com/office/powerpoint/2010/main" val="3349421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Transformação de dados categóricos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31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CAEECC0-BDE4-47FC-9B1D-8229780C6E38}"/>
              </a:ext>
            </a:extLst>
          </p:cNvPr>
          <p:cNvSpPr txBox="1"/>
          <p:nvPr/>
        </p:nvSpPr>
        <p:spPr>
          <a:xfrm>
            <a:off x="738414" y="1865091"/>
            <a:ext cx="109369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dirty="0"/>
              <a:t>Existem duas abordagens comuns para codificar dados categóricos: </a:t>
            </a:r>
          </a:p>
          <a:p>
            <a:pPr algn="just"/>
            <a:endParaRPr lang="pt-BR" sz="2800" b="1" i="1" dirty="0"/>
          </a:p>
          <a:p>
            <a:pPr algn="just"/>
            <a:endParaRPr lang="pt-BR" sz="2800" b="1" i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C479A67-412B-4809-BBCC-896AA941472D}"/>
              </a:ext>
            </a:extLst>
          </p:cNvPr>
          <p:cNvSpPr txBox="1"/>
          <p:nvPr/>
        </p:nvSpPr>
        <p:spPr>
          <a:xfrm>
            <a:off x="800100" y="2705193"/>
            <a:ext cx="109369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i="1" dirty="0"/>
              <a:t>Ordinal </a:t>
            </a:r>
            <a:r>
              <a:rPr lang="pt-BR" sz="2400" b="1" i="1" dirty="0" err="1"/>
              <a:t>Encoding</a:t>
            </a:r>
            <a:r>
              <a:rPr lang="pt-BR" sz="2400" b="1" i="1" dirty="0"/>
              <a:t>: </a:t>
            </a:r>
            <a:r>
              <a:rPr lang="pt-BR" sz="2400" dirty="0"/>
              <a:t>Simplesmente convertemos os dados categóricos em códigos inteiros que variam de 0 a (número  de  categorias – 1).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1A9F67B-399A-4A0B-8328-C86AD6BCFBD1}"/>
              </a:ext>
            </a:extLst>
          </p:cNvPr>
          <p:cNvSpPr txBox="1"/>
          <p:nvPr/>
        </p:nvSpPr>
        <p:spPr>
          <a:xfrm>
            <a:off x="800100" y="3406796"/>
            <a:ext cx="1093691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pt-BR" sz="2400" b="1" i="1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400" b="1" i="1" dirty="0" err="1"/>
              <a:t>One</a:t>
            </a:r>
            <a:r>
              <a:rPr lang="pt-BR" sz="2400" b="1" i="1" dirty="0"/>
              <a:t> hot </a:t>
            </a:r>
            <a:r>
              <a:rPr lang="pt-BR" sz="2400" b="1" i="1" dirty="0" err="1"/>
              <a:t>encoding</a:t>
            </a:r>
            <a:r>
              <a:rPr lang="pt-BR" sz="2400" b="1" i="1" dirty="0"/>
              <a:t>: </a:t>
            </a:r>
            <a:r>
              <a:rPr lang="pt-BR" sz="2400" dirty="0"/>
              <a:t>é uma abordagem muito diferente. Na codificação </a:t>
            </a:r>
            <a:r>
              <a:rPr lang="pt-BR" sz="2400" dirty="0" err="1"/>
              <a:t>one</a:t>
            </a:r>
            <a:r>
              <a:rPr lang="pt-BR" sz="2400" dirty="0"/>
              <a:t>-hot, transformamos cada valor categórico em uma coluna. Se houver n valores categóricos, n novas colunas serão adicionadas.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8290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Transformação Ordinal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Encoding</a:t>
            </a:r>
            <a:endParaRPr lang="pt-BR" sz="4800" dirty="0">
              <a:solidFill>
                <a:srgbClr val="003958"/>
              </a:solidFill>
              <a:latin typeface="+mj-lt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32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F1307308-8167-4C57-8594-15BA2616FDF5}"/>
              </a:ext>
            </a:extLst>
          </p:cNvPr>
          <p:cNvGraphicFramePr>
            <a:graphicFrameLocks noGrp="1"/>
          </p:cNvGraphicFramePr>
          <p:nvPr/>
        </p:nvGraphicFramePr>
        <p:xfrm>
          <a:off x="470416" y="4383309"/>
          <a:ext cx="10515600" cy="2133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00221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995868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984888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545287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8596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SKU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Produto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Cor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Quantidade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Preço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17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908721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45,33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13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456552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Vermelho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244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22,91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93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789921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Verde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387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25,92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5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872266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154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17,56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95460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4BF7A1A9-4D27-4A56-9065-9CA72B62A3ED}"/>
              </a:ext>
            </a:extLst>
          </p:cNvPr>
          <p:cNvGraphicFramePr>
            <a:graphicFrameLocks noGrp="1"/>
          </p:cNvGraphicFramePr>
          <p:nvPr/>
        </p:nvGraphicFramePr>
        <p:xfrm>
          <a:off x="470416" y="1407891"/>
          <a:ext cx="10515600" cy="2133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00221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995868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984888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545287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8596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SKU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Produto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Cor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Quantidade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Preço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17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908721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Camisa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45,33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13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456552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Tênis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Vermelho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244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22,91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93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789921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Bermuda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Verde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387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25,92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5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872266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Camisa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154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17,56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95460"/>
                  </a:ext>
                </a:extLst>
              </a:tr>
            </a:tbl>
          </a:graphicData>
        </a:graphic>
      </p:graphicFrame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AB2FA8F2-E68C-4F53-984B-1F4E7DF3F9A0}"/>
              </a:ext>
            </a:extLst>
          </p:cNvPr>
          <p:cNvSpPr/>
          <p:nvPr/>
        </p:nvSpPr>
        <p:spPr>
          <a:xfrm>
            <a:off x="2715064" y="3669884"/>
            <a:ext cx="773723" cy="5381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02558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33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 descr="Tabela&#10;&#10;Descrição gerada automaticamente">
            <a:extLst>
              <a:ext uri="{FF2B5EF4-FFF2-40B4-BE49-F238E27FC236}">
                <a16:creationId xmlns:a16="http://schemas.microsoft.com/office/drawing/2014/main" id="{2312F526-17FD-426B-BD6D-097D01D6F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3511" y="1349890"/>
            <a:ext cx="6926478" cy="516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18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Transformação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One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hot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encoding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34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75F69588-8D77-4F86-B44B-BE342633CA10}"/>
              </a:ext>
            </a:extLst>
          </p:cNvPr>
          <p:cNvGraphicFramePr>
            <a:graphicFrameLocks noGrp="1"/>
          </p:cNvGraphicFramePr>
          <p:nvPr/>
        </p:nvGraphicFramePr>
        <p:xfrm>
          <a:off x="306473" y="4182810"/>
          <a:ext cx="10679543" cy="2534597"/>
        </p:xfrm>
        <a:graphic>
          <a:graphicData uri="http://schemas.openxmlformats.org/drawingml/2006/table">
            <a:tbl>
              <a:tblPr/>
              <a:tblGrid>
                <a:gridCol w="1186616">
                  <a:extLst>
                    <a:ext uri="{9D8B030D-6E8A-4147-A177-3AD203B41FA5}">
                      <a16:colId xmlns:a16="http://schemas.microsoft.com/office/drawing/2014/main" val="3010119907"/>
                    </a:ext>
                  </a:extLst>
                </a:gridCol>
                <a:gridCol w="1186616">
                  <a:extLst>
                    <a:ext uri="{9D8B030D-6E8A-4147-A177-3AD203B41FA5}">
                      <a16:colId xmlns:a16="http://schemas.microsoft.com/office/drawing/2014/main" val="1316395413"/>
                    </a:ext>
                  </a:extLst>
                </a:gridCol>
                <a:gridCol w="1186616">
                  <a:extLst>
                    <a:ext uri="{9D8B030D-6E8A-4147-A177-3AD203B41FA5}">
                      <a16:colId xmlns:a16="http://schemas.microsoft.com/office/drawing/2014/main" val="862640001"/>
                    </a:ext>
                  </a:extLst>
                </a:gridCol>
                <a:gridCol w="1186616">
                  <a:extLst>
                    <a:ext uri="{9D8B030D-6E8A-4147-A177-3AD203B41FA5}">
                      <a16:colId xmlns:a16="http://schemas.microsoft.com/office/drawing/2014/main" val="548059977"/>
                    </a:ext>
                  </a:extLst>
                </a:gridCol>
                <a:gridCol w="1186616">
                  <a:extLst>
                    <a:ext uri="{9D8B030D-6E8A-4147-A177-3AD203B41FA5}">
                      <a16:colId xmlns:a16="http://schemas.microsoft.com/office/drawing/2014/main" val="3792399978"/>
                    </a:ext>
                  </a:extLst>
                </a:gridCol>
                <a:gridCol w="1186616">
                  <a:extLst>
                    <a:ext uri="{9D8B030D-6E8A-4147-A177-3AD203B41FA5}">
                      <a16:colId xmlns:a16="http://schemas.microsoft.com/office/drawing/2014/main" val="1222863906"/>
                    </a:ext>
                  </a:extLst>
                </a:gridCol>
                <a:gridCol w="872921">
                  <a:extLst>
                    <a:ext uri="{9D8B030D-6E8A-4147-A177-3AD203B41FA5}">
                      <a16:colId xmlns:a16="http://schemas.microsoft.com/office/drawing/2014/main" val="2381692812"/>
                    </a:ext>
                  </a:extLst>
                </a:gridCol>
                <a:gridCol w="1500310">
                  <a:extLst>
                    <a:ext uri="{9D8B030D-6E8A-4147-A177-3AD203B41FA5}">
                      <a16:colId xmlns:a16="http://schemas.microsoft.com/office/drawing/2014/main" val="4069440588"/>
                    </a:ext>
                  </a:extLst>
                </a:gridCol>
                <a:gridCol w="1186616">
                  <a:extLst>
                    <a:ext uri="{9D8B030D-6E8A-4147-A177-3AD203B41FA5}">
                      <a16:colId xmlns:a16="http://schemas.microsoft.com/office/drawing/2014/main" val="2668401741"/>
                    </a:ext>
                  </a:extLst>
                </a:gridCol>
              </a:tblGrid>
              <a:tr h="737921"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SKU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Bermuda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Camisa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Tênis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Vermelho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Verde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Quantidade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Preço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482429"/>
                  </a:ext>
                </a:extLst>
              </a:tr>
              <a:tr h="449169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908721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45,33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612189"/>
                  </a:ext>
                </a:extLst>
              </a:tr>
              <a:tr h="449169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456552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244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22,91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887322"/>
                  </a:ext>
                </a:extLst>
              </a:tr>
              <a:tr h="449169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789921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387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25,92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979788"/>
                  </a:ext>
                </a:extLst>
              </a:tr>
              <a:tr h="449169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872266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0 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154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17,56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312141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DF7AD54D-E1D2-4B2D-9D93-C16A5B107E16}"/>
              </a:ext>
            </a:extLst>
          </p:cNvPr>
          <p:cNvGraphicFramePr>
            <a:graphicFrameLocks noGrp="1"/>
          </p:cNvGraphicFramePr>
          <p:nvPr/>
        </p:nvGraphicFramePr>
        <p:xfrm>
          <a:off x="470416" y="1407891"/>
          <a:ext cx="10515600" cy="21336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3002212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49958688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9848886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5452875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668596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SKU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Produto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Cor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dirty="0">
                          <a:effectLst/>
                        </a:rPr>
                        <a:t>Quantidade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>
                          <a:effectLst/>
                        </a:rPr>
                        <a:t>Preço</a:t>
                      </a:r>
                    </a:p>
                  </a:txBody>
                  <a:tcPr marL="152400" marR="152400" marT="76200" marB="76200" anchor="b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6175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908721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Camisa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45,33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4813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456552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Tênis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Vermelho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244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22,91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938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789921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Bermuda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Verde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387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25,92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8352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872266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Camisa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Azul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>
                          <a:effectLst/>
                        </a:rPr>
                        <a:t>154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pt-BR" dirty="0">
                          <a:effectLst/>
                        </a:rPr>
                        <a:t>17,56</a:t>
                      </a:r>
                    </a:p>
                  </a:txBody>
                  <a:tcPr marL="152400" marR="1524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895460"/>
                  </a:ext>
                </a:extLst>
              </a:tr>
            </a:tbl>
          </a:graphicData>
        </a:graphic>
      </p:graphicFrame>
      <p:sp>
        <p:nvSpPr>
          <p:cNvPr id="12" name="Seta: para Baixo 11">
            <a:extLst>
              <a:ext uri="{FF2B5EF4-FFF2-40B4-BE49-F238E27FC236}">
                <a16:creationId xmlns:a16="http://schemas.microsoft.com/office/drawing/2014/main" id="{75CC8E0B-C6C5-428A-BF08-8C61E571161C}"/>
              </a:ext>
            </a:extLst>
          </p:cNvPr>
          <p:cNvSpPr/>
          <p:nvPr/>
        </p:nvSpPr>
        <p:spPr>
          <a:xfrm>
            <a:off x="4543864" y="3644670"/>
            <a:ext cx="956604" cy="5381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4901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35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5" name="Imagem 4" descr="Interface gráfica do usuário, Texto, Aplicativo, Email&#10;&#10;Descrição gerada automaticamente">
            <a:extLst>
              <a:ext uri="{FF2B5EF4-FFF2-40B4-BE49-F238E27FC236}">
                <a16:creationId xmlns:a16="http://schemas.microsoft.com/office/drawing/2014/main" id="{4193F345-912B-4BC7-88C7-8BD920B697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27" y="1849548"/>
            <a:ext cx="11101841" cy="252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94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Praticando </a:t>
            </a:r>
            <a:r>
              <a:rPr lang="pt-BR" sz="4800" dirty="0" err="1">
                <a:solidFill>
                  <a:srgbClr val="003958"/>
                </a:solidFill>
                <a:latin typeface="+mj-lt"/>
              </a:rPr>
              <a:t>Machine</a:t>
            </a:r>
            <a:r>
              <a:rPr lang="pt-BR" sz="4800" dirty="0">
                <a:solidFill>
                  <a:srgbClr val="003958"/>
                </a:solidFill>
                <a:latin typeface="+mj-lt"/>
              </a:rPr>
              <a:t> Learning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36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pic>
        <p:nvPicPr>
          <p:cNvPr id="8" name="Imagem 7" descr="Tabela&#10;&#10;Descrição gerada automaticamente">
            <a:extLst>
              <a:ext uri="{FF2B5EF4-FFF2-40B4-BE49-F238E27FC236}">
                <a16:creationId xmlns:a16="http://schemas.microsoft.com/office/drawing/2014/main" id="{E430B8AE-9082-408C-B787-94DD9C47E9F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0716"/>
          <a:stretch/>
        </p:blipFill>
        <p:spPr>
          <a:xfrm>
            <a:off x="1344018" y="1106663"/>
            <a:ext cx="9665154" cy="562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40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00200" cy="1524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8333" y="5705475"/>
            <a:ext cx="1000125" cy="115252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DE17BFE-96F4-4FAB-8D95-F281C0A82C3C}"/>
              </a:ext>
            </a:extLst>
          </p:cNvPr>
          <p:cNvSpPr txBox="1"/>
          <p:nvPr/>
        </p:nvSpPr>
        <p:spPr>
          <a:xfrm>
            <a:off x="1023257" y="341091"/>
            <a:ext cx="10877006" cy="812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760"/>
              </a:lnSpc>
            </a:pPr>
            <a:r>
              <a:rPr lang="pt-BR" sz="4800" dirty="0">
                <a:solidFill>
                  <a:srgbClr val="003958"/>
                </a:solidFill>
                <a:latin typeface="+mj-lt"/>
              </a:rPr>
              <a:t>Atividade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>
          <a:xfrm>
            <a:off x="11085690" y="5770107"/>
            <a:ext cx="1179286" cy="1196750"/>
          </a:xfrm>
        </p:spPr>
        <p:txBody>
          <a:bodyPr/>
          <a:lstStyle/>
          <a:p>
            <a:fld id="{0EBD8FC8-E31D-4F23-A3B0-3DC82BD55FB7}" type="slidenum">
              <a:rPr lang="pt-BR" sz="6000" smtClean="0">
                <a:solidFill>
                  <a:schemeClr val="bg1"/>
                </a:solidFill>
                <a:latin typeface="Impact" panose="020B0806030902050204" pitchFamily="34" charset="0"/>
              </a:rPr>
              <a:t>37</a:t>
            </a:fld>
            <a:endParaRPr lang="pt-BR" sz="60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53E089A-E91A-12CF-E293-98F60ACE77DE}"/>
              </a:ext>
            </a:extLst>
          </p:cNvPr>
          <p:cNvSpPr txBox="1"/>
          <p:nvPr/>
        </p:nvSpPr>
        <p:spPr>
          <a:xfrm>
            <a:off x="1023257" y="1726540"/>
            <a:ext cx="1046216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3 - Aplicar as técnicas de pré-processamento discutidas na aula aos </a:t>
            </a:r>
            <a:r>
              <a:rPr lang="pt-BR" sz="2400" dirty="0" err="1"/>
              <a:t>datasets</a:t>
            </a:r>
            <a:r>
              <a:rPr lang="pt-BR" sz="2400" dirty="0"/>
              <a:t> que você pesquisou e explorou na aula passada.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4 -  Utilize os tutoriais para plotar informações do Titanic:</a:t>
            </a:r>
          </a:p>
          <a:p>
            <a:endParaRPr lang="pt-BR" sz="2400" dirty="0"/>
          </a:p>
          <a:p>
            <a:r>
              <a:rPr lang="pt-BR" sz="2400" dirty="0"/>
              <a:t> </a:t>
            </a:r>
            <a:r>
              <a:rPr lang="pt-BR" sz="2400" dirty="0">
                <a:hlinkClick r:id="rId5"/>
              </a:rPr>
              <a:t>https://www.kaggle.com/code/fourbic/visualizing-the-titanic-data-with-seaborn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>
                <a:hlinkClick r:id="rId6"/>
              </a:rPr>
              <a:t>https://gist.github.com/mwaskom/8224591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10514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FCC15-77B7-7205-7BBB-27B81D9C7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A140E3E0-CA18-BF47-CD91-17976BE220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2658" y="-10003"/>
            <a:ext cx="6669342" cy="686800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DEF36FF1-E5A0-CD17-D216-6482435C9016}"/>
                  </a:ext>
                </a:extLst>
              </p14:cNvPr>
              <p14:cNvContentPartPr/>
              <p14:nvPr/>
            </p14:nvContentPartPr>
            <p14:xfrm>
              <a:off x="4503141" y="3110426"/>
              <a:ext cx="32400" cy="1872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BA12F36F-D394-45EE-96CF-DFFBD6CA31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94141" y="3101426"/>
                <a:ext cx="50040" cy="3636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Imagem 5">
            <a:extLst>
              <a:ext uri="{FF2B5EF4-FFF2-40B4-BE49-F238E27FC236}">
                <a16:creationId xmlns:a16="http://schemas.microsoft.com/office/drawing/2014/main" id="{69325278-F42E-5EA3-C0D8-2CF02FD3EFD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88" r="11351"/>
          <a:stretch/>
        </p:blipFill>
        <p:spPr>
          <a:xfrm>
            <a:off x="0" y="0"/>
            <a:ext cx="5336998" cy="6858000"/>
          </a:xfrm>
          <a:prstGeom prst="flowChartDelay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02D79E15-B5B8-F5BC-59FD-BE5B44544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3141" y="2076426"/>
            <a:ext cx="2243122" cy="2705148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507CFA-ACEE-17BD-898E-E179B7C406DB}"/>
              </a:ext>
            </a:extLst>
          </p:cNvPr>
          <p:cNvSpPr txBox="1"/>
          <p:nvPr/>
        </p:nvSpPr>
        <p:spPr>
          <a:xfrm>
            <a:off x="6518366" y="2644170"/>
            <a:ext cx="5557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>
                <a:solidFill>
                  <a:srgbClr val="003958"/>
                </a:solidFill>
                <a:latin typeface="Impact" panose="020B0806030902050204" pitchFamily="34" charset="0"/>
              </a:rPr>
              <a:t>Aula 3 – Pré-processamento de dados</a:t>
            </a:r>
            <a:endParaRPr lang="pt-BR" sz="3600" dirty="0">
              <a:solidFill>
                <a:srgbClr val="003958"/>
              </a:solidFill>
              <a:latin typeface="Impact" panose="020B0806030902050204" pitchFamily="3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D6B0D30-7D1E-246D-C7E7-35059270E07E}"/>
              </a:ext>
            </a:extLst>
          </p:cNvPr>
          <p:cNvSpPr txBox="1"/>
          <p:nvPr/>
        </p:nvSpPr>
        <p:spPr>
          <a:xfrm>
            <a:off x="5336999" y="4781574"/>
            <a:ext cx="6738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dirty="0">
                <a:solidFill>
                  <a:srgbClr val="003958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Yuri Crotti</a:t>
            </a:r>
          </a:p>
        </p:txBody>
      </p:sp>
    </p:spTree>
    <p:extLst>
      <p:ext uri="{BB962C8B-B14F-4D97-AF65-F5344CB8AC3E}">
        <p14:creationId xmlns:p14="http://schemas.microsoft.com/office/powerpoint/2010/main" val="8108093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8693</TotalTime>
  <Words>1303</Words>
  <Application>Microsoft Office PowerPoint</Application>
  <PresentationFormat>Widescreen</PresentationFormat>
  <Paragraphs>374</Paragraphs>
  <Slides>38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 Marcos Garcia Vieira</dc:creator>
  <cp:lastModifiedBy>Yuri Crotti</cp:lastModifiedBy>
  <cp:revision>67</cp:revision>
  <dcterms:created xsi:type="dcterms:W3CDTF">2019-02-19T17:16:10Z</dcterms:created>
  <dcterms:modified xsi:type="dcterms:W3CDTF">2025-08-15T00:20:37Z</dcterms:modified>
</cp:coreProperties>
</file>